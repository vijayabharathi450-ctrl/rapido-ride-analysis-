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474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Incomplete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24641</c:v>
                </c:pt>
                <c:pt idx="1">
                  <c:v>3559</c:v>
                </c:pt>
                <c:pt idx="2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BE-4E4D-852D-171BEB5FE0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Ride outcomes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Incomplete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24641</c:v>
                </c:pt>
                <c:pt idx="1">
                  <c:v>3559</c:v>
                </c:pt>
                <c:pt idx="2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33-4024-9FB0-420CAC8EC0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 value by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Incomplete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3447119.61</c:v>
                </c:pt>
                <c:pt idx="1">
                  <c:v>498163.28</c:v>
                </c:pt>
                <c:pt idx="2">
                  <c:v>251905.66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C-4899-AAB2-4E9D51359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Revenue by vehicle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Bike</c:v>
                </c:pt>
                <c:pt idx="1">
                  <c:v>Auto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2953111.72</c:v>
                </c:pt>
                <c:pt idx="1">
                  <c:v>1244076.83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68-4DF5-A6C9-09BFB164FC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Bookings by vehicle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Bike</c:v>
                </c:pt>
                <c:pt idx="1">
                  <c:v>Auto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21001</c:v>
                </c:pt>
                <c:pt idx="1">
                  <c:v>8999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9C-4EA1-AEA9-21894FC09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 value by vehicle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Bike</c:v>
                </c:pt>
                <c:pt idx="1">
                  <c:v>Auto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2953111.72</c:v>
                </c:pt>
                <c:pt idx="1">
                  <c:v>1244076.83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F-46D6-A794-1CAC8AD53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Pickup bookings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Delhi</c:v>
                </c:pt>
                <c:pt idx="1">
                  <c:v>Hyderabad</c:v>
                </c:pt>
                <c:pt idx="2">
                  <c:v>Bengaluru</c:v>
                </c:pt>
                <c:pt idx="3">
                  <c:v>Chennai</c:v>
                </c:pt>
                <c:pt idx="4">
                  <c:v>Pune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6092</c:v>
                </c:pt>
                <c:pt idx="1">
                  <c:v>6052</c:v>
                </c:pt>
                <c:pt idx="2">
                  <c:v>6038</c:v>
                </c:pt>
                <c:pt idx="3">
                  <c:v>5928</c:v>
                </c:pt>
                <c:pt idx="4">
                  <c:v>5890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8-4DAB-A14D-BFE069F1F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Drop bookings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Hyderabad</c:v>
                </c:pt>
                <c:pt idx="1">
                  <c:v>Delhi</c:v>
                </c:pt>
                <c:pt idx="2">
                  <c:v>Pune</c:v>
                </c:pt>
                <c:pt idx="3">
                  <c:v>Chennai</c:v>
                </c:pt>
                <c:pt idx="4">
                  <c:v>Bengaluru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6043</c:v>
                </c:pt>
                <c:pt idx="1">
                  <c:v>6039</c:v>
                </c:pt>
                <c:pt idx="2">
                  <c:v>6011</c:v>
                </c:pt>
                <c:pt idx="3">
                  <c:v>5996</c:v>
                </c:pt>
                <c:pt idx="4">
                  <c:v>5911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31-490C-AE28-2CBA9351F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Bookings by payment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Wallet</c:v>
                </c:pt>
                <c:pt idx="2">
                  <c:v>Cash</c:v>
                </c:pt>
                <c:pt idx="3">
                  <c:v>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14963</c:v>
                </c:pt>
                <c:pt idx="1">
                  <c:v>7486</c:v>
                </c:pt>
                <c:pt idx="2">
                  <c:v>5937</c:v>
                </c:pt>
                <c:pt idx="3">
                  <c:v>1614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B7-4D38-92F5-8BEBE7718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Booking value by payment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Wallet</c:v>
                </c:pt>
                <c:pt idx="2">
                  <c:v>Cash</c:v>
                </c:pt>
                <c:pt idx="3">
                  <c:v>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2087468.68</c:v>
                </c:pt>
                <c:pt idx="1">
                  <c:v>1056461.79</c:v>
                </c:pt>
                <c:pt idx="2">
                  <c:v>825185.5</c:v>
                </c:pt>
                <c:pt idx="3">
                  <c:v>228072.58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30-432F-9420-72285D4E8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Bookings by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7373</c:v>
                </c:pt>
                <c:pt idx="1">
                  <c:v>6311</c:v>
                </c:pt>
                <c:pt idx="2">
                  <c:v>5062</c:v>
                </c:pt>
                <c:pt idx="3">
                  <c:v>11254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2C-4AE8-91A7-3FE1813A2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 value by date range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1–10</c:v>
                </c:pt>
                <c:pt idx="1">
                  <c:v>11–20</c:v>
                </c:pt>
                <c:pt idx="2">
                  <c:v>21–31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1356318.83</c:v>
                </c:pt>
                <c:pt idx="1">
                  <c:v>1353050.2999999998</c:v>
                </c:pt>
                <c:pt idx="2">
                  <c:v>1487819.42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8-4C6A-B37E-8A7560C22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Bookings by distance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011941279464662"/>
          <c:y val="8.2990782262082702E-2"/>
          <c:w val="0.89988058720535335"/>
          <c:h val="0.8256361102283739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0–5 km</c:v>
                </c:pt>
                <c:pt idx="1">
                  <c:v>5–10 km</c:v>
                </c:pt>
                <c:pt idx="2">
                  <c:v>10–20 km</c:v>
                </c:pt>
                <c:pt idx="3">
                  <c:v>20+ 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4504</c:v>
                </c:pt>
                <c:pt idx="1">
                  <c:v>6349</c:v>
                </c:pt>
                <c:pt idx="2">
                  <c:v>12873</c:v>
                </c:pt>
                <c:pt idx="3">
                  <c:v>6274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B-4700-BEC0-7AFF1E4F5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Average distance by pickup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km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Pune</c:v>
                </c:pt>
                <c:pt idx="1">
                  <c:v>Delhi</c:v>
                </c:pt>
                <c:pt idx="2">
                  <c:v>Bengaluru</c:v>
                </c:pt>
                <c:pt idx="3">
                  <c:v>Hyderabad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13.297969439728352</c:v>
                </c:pt>
                <c:pt idx="1">
                  <c:v>13.223959290873276</c:v>
                </c:pt>
                <c:pt idx="2">
                  <c:v>13.202419675389203</c:v>
                </c:pt>
                <c:pt idx="3">
                  <c:v>13.190877395902181</c:v>
                </c:pt>
                <c:pt idx="4">
                  <c:v>13.07860661268556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01-468F-B262-36A93EA1D5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Ratings by vehicle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Rating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Auto</c:v>
                </c:pt>
                <c:pt idx="1">
                  <c:v>Bike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4.0044004889432161</c:v>
                </c:pt>
                <c:pt idx="1">
                  <c:v>4.0060568544355029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13-4870-956A-88B4A04CD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Driver Rating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Auto</c:v>
                </c:pt>
                <c:pt idx="1">
                  <c:v>Bike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4.0016112901433489</c:v>
                </c:pt>
                <c:pt idx="1">
                  <c:v>3.99570496643017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13-4870-956A-88B4A04CD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Customer</c:v>
                </c:pt>
                <c:pt idx="1">
                  <c:v>Driver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2113</c:v>
                </c:pt>
                <c:pt idx="1">
                  <c:v>1446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9-444B-90C9-366668AFBE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Cancelled bookings by pickup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Cancelled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Delhi</c:v>
                </c:pt>
                <c:pt idx="1">
                  <c:v>Hyderabad</c:v>
                </c:pt>
                <c:pt idx="2">
                  <c:v>Bengaluru</c:v>
                </c:pt>
                <c:pt idx="3">
                  <c:v>Chennai</c:v>
                </c:pt>
                <c:pt idx="4">
                  <c:v>Pune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699787</c:v>
                </c:pt>
                <c:pt idx="1">
                  <c:v>695502</c:v>
                </c:pt>
                <c:pt idx="2">
                  <c:v>693759</c:v>
                </c:pt>
                <c:pt idx="3">
                  <c:v>681224</c:v>
                </c:pt>
                <c:pt idx="4">
                  <c:v>677210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84-46FE-A143-F816BA637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Incomplete ride reasons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Incomplete rides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Network issue</c:v>
                </c:pt>
                <c:pt idx="1">
                  <c:v>Customer cancelled early</c:v>
                </c:pt>
                <c:pt idx="2">
                  <c:v>Driver delayed</c:v>
                </c:pt>
                <c:pt idx="3">
                  <c:v>Customer not found</c:v>
                </c:pt>
                <c:pt idx="4">
                  <c:v>Weather issue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367</c:v>
                </c:pt>
                <c:pt idx="2">
                  <c:v>362</c:v>
                </c:pt>
                <c:pt idx="3">
                  <c:v>356</c:v>
                </c:pt>
                <c:pt idx="4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B-41F5-A393-253570823D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047C6-BF93-4871-9F96-EB61333A9BD7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F2790-A772-4116-808F-8C9E3CEAA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8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F2790-A772-4116-808F-8C9E3CEAA3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81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F2790-A772-4116-808F-8C9E3CEAA3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4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778240" y="731520"/>
            <a:ext cx="438912" cy="5394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55480" y="731520"/>
            <a:ext cx="438912" cy="5394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32720" y="731520"/>
            <a:ext cx="438912" cy="5394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09960" y="731520"/>
            <a:ext cx="438912" cy="5394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RAPIDO RIDE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rPr dirty="0"/>
              <a:t>July 2025 • Data Analytics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3319" y="5673038"/>
            <a:ext cx="27657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en-US" dirty="0"/>
              <a:t>By Vijayabharathi 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2604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Business objective and analytical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49224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rPr sz="2000" dirty="0"/>
              <a:t>• Analyze 30,000 Rapido bookings recorded during July 2025.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rPr sz="2000" dirty="0"/>
              <a:t>• Measure booking performance, revenue, cancellations and completion.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rPr sz="2000" dirty="0"/>
              <a:t>• Understand demand by vehicle type, location, payment method and time period.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rPr sz="2000" dirty="0"/>
              <a:t>• Evaluate customer and driver ratings, distance and ride behavior.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rPr sz="2000" dirty="0"/>
              <a:t>• Translate the findings into practical operational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47886" y="1563624"/>
            <a:ext cx="11095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9" y="190217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30,000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2425" y="2404872"/>
            <a:ext cx="9605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July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718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297180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59" y="3118104"/>
            <a:ext cx="12363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34472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24,641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3959352"/>
            <a:ext cx="17091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82.1% of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5262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4526280"/>
            <a:ext cx="6400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59" y="4672584"/>
            <a:ext cx="9893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50017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₹3.45M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5513832"/>
            <a:ext cx="18267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Completed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Rapido Ride Analysis • July 2025     |   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4608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rPr sz="2400" dirty="0"/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52801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30,000-row cleaned dataset used for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960120" y="1472184"/>
            <a:ext cx="12426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BOOKING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309359" y="1325880"/>
            <a:ext cx="6400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16813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BOOKING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402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777240" y="22402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960120" y="2386584"/>
            <a:ext cx="16098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BOOKING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2402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6309359" y="2240280"/>
            <a:ext cx="6400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492240" y="2386584"/>
            <a:ext cx="23998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PICKUP / DROP 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777240" y="31546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2135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RIDE DISTANCE &amp;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1546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ectangle 25"/>
          <p:cNvSpPr/>
          <p:nvPr/>
        </p:nvSpPr>
        <p:spPr>
          <a:xfrm>
            <a:off x="6309359" y="3154680"/>
            <a:ext cx="6400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6492240" y="3300984"/>
            <a:ext cx="13484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VEHICLE 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0690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Rectangle 29"/>
          <p:cNvSpPr/>
          <p:nvPr/>
        </p:nvSpPr>
        <p:spPr>
          <a:xfrm>
            <a:off x="777240" y="40690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960120" y="4215384"/>
            <a:ext cx="18355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PAYMENT METHOD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0690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Rectangle 33"/>
          <p:cNvSpPr/>
          <p:nvPr/>
        </p:nvSpPr>
        <p:spPr>
          <a:xfrm>
            <a:off x="6309359" y="4069080"/>
            <a:ext cx="6400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6492240" y="4215384"/>
            <a:ext cx="28173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CUSTOMER &amp; DRIVER RATINGS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9834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8" name="Rectangle 37"/>
          <p:cNvSpPr/>
          <p:nvPr/>
        </p:nvSpPr>
        <p:spPr>
          <a:xfrm>
            <a:off x="777240" y="49834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960120" y="5129784"/>
            <a:ext cx="36191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CANCELLATION / INCOMPLETE REASONS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49834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2" name="Rectangle 41"/>
          <p:cNvSpPr/>
          <p:nvPr/>
        </p:nvSpPr>
        <p:spPr>
          <a:xfrm>
            <a:off x="6309359" y="4983480"/>
            <a:ext cx="6400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6492240" y="5129784"/>
            <a:ext cx="12907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DATE &amp;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0411" y="6437376"/>
            <a:ext cx="38167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sz="1600"/>
              <a:t>Rapido Ride Analysis • July 2025     |   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547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rPr sz="2400"/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7152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1600"/>
              <a:t>Headline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6829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TOTAL BOOKINGS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295" y="1847088"/>
            <a:ext cx="758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11913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All bookings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3611880" y="1517904"/>
            <a:ext cx="17777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COMPLETED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5733" y="1897966"/>
            <a:ext cx="758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24,641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59152"/>
            <a:ext cx="16870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82.1%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3716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6309359" y="137160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6492240" y="1517904"/>
            <a:ext cx="17055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CANCELLED RIDES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413" y="1860439"/>
            <a:ext cx="6543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3,559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9152"/>
            <a:ext cx="17091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11.9% of bookings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3716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ectangle 20"/>
          <p:cNvSpPr/>
          <p:nvPr/>
        </p:nvSpPr>
        <p:spPr>
          <a:xfrm>
            <a:off x="9189719" y="137160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372599" y="1517904"/>
            <a:ext cx="18371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INCOMPLETE RIDES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6806" y="1900528"/>
            <a:ext cx="6543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1,800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359152"/>
            <a:ext cx="16049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6.0% of bookings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28" y="3280594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731520" y="3392424"/>
            <a:ext cx="20875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COMPLETED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3866" y="3803904"/>
            <a:ext cx="8354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₹3.45M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179" y="4258064"/>
            <a:ext cx="27473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Revenue from completed rides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Rectangle 30"/>
          <p:cNvSpPr/>
          <p:nvPr/>
        </p:nvSpPr>
        <p:spPr>
          <a:xfrm>
            <a:off x="3429000" y="324612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3611880" y="3392424"/>
            <a:ext cx="20206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AVG BOOKING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4049" y="3783497"/>
            <a:ext cx="8643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₹139.91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233672"/>
            <a:ext cx="11913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All bookings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Rectangle 35"/>
          <p:cNvSpPr/>
          <p:nvPr/>
        </p:nvSpPr>
        <p:spPr>
          <a:xfrm>
            <a:off x="6309359" y="324612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6492240" y="3392424"/>
            <a:ext cx="14284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AVG DISTANCE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0259" y="3788890"/>
            <a:ext cx="9669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 dirty="0"/>
              <a:t>13.20 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233672"/>
            <a:ext cx="8361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Per ride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19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Rectangle 40"/>
          <p:cNvSpPr/>
          <p:nvPr/>
        </p:nvSpPr>
        <p:spPr>
          <a:xfrm>
            <a:off x="9189719" y="324612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9372599" y="3392424"/>
            <a:ext cx="22566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AVG CUSTOMER RATING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3062" y="3776472"/>
            <a:ext cx="7441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sz="1600"/>
              <a:t>4.01/5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599" y="4233672"/>
            <a:ext cx="19550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Booking Status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8551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Completed, cancelled and incomplete ride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029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035040" y="141732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623559"/>
            <a:ext cx="2795776" cy="71435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623560"/>
            <a:ext cx="64008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7645" y="5692700"/>
            <a:ext cx="18070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COMPLETION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9389" y="5907024"/>
            <a:ext cx="11303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82.1%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9071" y="5623560"/>
            <a:ext cx="2823208" cy="731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77639" y="562356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1461" y="5679925"/>
            <a:ext cx="19447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CANCELLATION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1321" y="5883604"/>
            <a:ext cx="9144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11.9%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5623560"/>
            <a:ext cx="2834640" cy="731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40880" y="562356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155" y="5680047"/>
            <a:ext cx="17669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INCOMPLETE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2351" y="5923913"/>
            <a:ext cx="7452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6.0%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Revenue &amp; Fare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13816"/>
            <a:ext cx="41717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Booking value and completed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2588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623560"/>
            <a:ext cx="310896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62356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756500"/>
            <a:ext cx="21832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TOTAL BOOKING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60167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₹4.20M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5623560"/>
            <a:ext cx="310896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5623560"/>
            <a:ext cx="64008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4562" y="5734808"/>
            <a:ext cx="20875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COMPLETED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606784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₹3.45M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Vehicle Type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3303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Bike vs Auto booking demand and value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37160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7150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715000"/>
            <a:ext cx="64008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4915" y="5902113"/>
            <a:ext cx="13274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1660" y="619048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Bike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2723" y="6491175"/>
            <a:ext cx="18918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2000" dirty="0"/>
              <a:t>21,001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7150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5715000"/>
            <a:ext cx="64008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76964" y="5806101"/>
            <a:ext cx="1126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5175" y="6112764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Bike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129" y="6496165"/>
            <a:ext cx="8274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₹2.95M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Pickup Location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214" y="895948"/>
            <a:ext cx="45374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Which cities generate the most bookings?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67244" y="156797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47706" y="1731569"/>
            <a:ext cx="15967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HIGHEST PICKUP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42855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4172" y="2431739"/>
            <a:ext cx="14237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6,092</a:t>
            </a:r>
            <a:r>
              <a:rPr dirty="0"/>
              <a:t> </a:t>
            </a:r>
            <a:r>
              <a:rPr sz="1600" dirty="0"/>
              <a:t>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06324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306324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250717"/>
            <a:ext cx="15569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LOWEST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2098" y="3597473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4172" y="4009757"/>
            <a:ext cx="1447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5,890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5720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572000"/>
            <a:ext cx="64008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9907" y="4718304"/>
            <a:ext cx="12932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3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3482" y="508760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60.6%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9162" y="5504688"/>
            <a:ext cx="13885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of all bookings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Drop Location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9136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Where are riders ending their trips?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268814"/>
              </p:ext>
            </p:extLst>
          </p:nvPr>
        </p:nvGraphicFramePr>
        <p:xfrm>
          <a:off x="797852" y="132588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544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65063" y="1723530"/>
            <a:ext cx="14627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HIGHEST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011" y="2029967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Hyderabad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63" y="2542032"/>
            <a:ext cx="1447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6,043 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7244" y="306324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306324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4817" y="3186569"/>
            <a:ext cx="14229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LOWEST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011" y="356826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Bengaluru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6621" y="3968496"/>
            <a:ext cx="1447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5,911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5720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572000"/>
            <a:ext cx="64008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4532" y="4681728"/>
            <a:ext cx="12932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3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107" y="503646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60.3%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1607" y="5527209"/>
            <a:ext cx="13885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of all 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Rapido Ride Analysis • July 2025     |   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Payment Method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5089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Booking volume and value by payment channel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096981"/>
              </p:ext>
            </p:extLst>
          </p:nvPr>
        </p:nvGraphicFramePr>
        <p:xfrm>
          <a:off x="685800" y="132588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318589"/>
              </p:ext>
            </p:extLst>
          </p:nvPr>
        </p:nvGraphicFramePr>
        <p:xfrm>
          <a:off x="6400800" y="1325880"/>
          <a:ext cx="5029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7150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715000"/>
            <a:ext cx="64008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91537" y="5861304"/>
            <a:ext cx="12086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MOST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935" y="614758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UPI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4627" y="6546878"/>
            <a:ext cx="15520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14,963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715000"/>
            <a:ext cx="3349754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5715000"/>
            <a:ext cx="64008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2675" y="5818172"/>
            <a:ext cx="15225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HIGHEST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3839" y="614758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UPI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323" y="6533275"/>
            <a:ext cx="8274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₹2.09M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Peak 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7439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Booking demand by time category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37160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55448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2446" y="1700784"/>
            <a:ext cx="13219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PEAK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1154" y="2052715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6" y="2564779"/>
            <a:ext cx="15520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11,254 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1546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3154680"/>
            <a:ext cx="6400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596" y="3300984"/>
            <a:ext cx="12417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PEAK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5445" y="3588903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37.5%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0681" y="4142232"/>
            <a:ext cx="13885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of all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709160"/>
            <a:ext cx="329184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F2937"/>
                </a:solidFill>
              </a:defRPr>
            </a:pPr>
            <a:r>
              <a:rPr sz="1600" dirty="0"/>
              <a:t>• Prioritize driver availability during peak periods.</a:t>
            </a:r>
          </a:p>
          <a:p>
            <a:pPr>
              <a:spcAft>
                <a:spcPts val="1000"/>
              </a:spcAft>
              <a:defRPr sz="1100">
                <a:solidFill>
                  <a:srgbClr val="1F2937"/>
                </a:solidFill>
              </a:defRPr>
            </a:pPr>
            <a:r>
              <a:rPr sz="1600" dirty="0"/>
              <a:t>• Use peak-time demand patterns for staffing and incentives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Daily 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6698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Booking value across the three July periods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41732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80960" y="155448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02168" y="1682383"/>
            <a:ext cx="16185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HIGHEST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960" y="20574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21–31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241" y="2555409"/>
            <a:ext cx="8274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₹1.49M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1546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315468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274275"/>
            <a:ext cx="15788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LOWEST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1237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11–20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220" y="4142232"/>
            <a:ext cx="8274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₹1.35M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75488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475488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3658" y="4931172"/>
            <a:ext cx="20342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JULY BOOKING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241" y="5269726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₹4.20M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Ride Distance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52286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Average distance and distance-category demand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130817"/>
              </p:ext>
            </p:extLst>
          </p:nvPr>
        </p:nvGraphicFramePr>
        <p:xfrm>
          <a:off x="942066" y="1591056"/>
          <a:ext cx="5733054" cy="4078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469906"/>
              </p:ext>
            </p:extLst>
          </p:nvPr>
        </p:nvGraphicFramePr>
        <p:xfrm>
          <a:off x="7040880" y="1430214"/>
          <a:ext cx="4389120" cy="4284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669280"/>
            <a:ext cx="30175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64008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5824615"/>
            <a:ext cx="18687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AVERAGE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7884" y="6112764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13.20 km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66928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5669280"/>
            <a:ext cx="64008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9038" y="5815584"/>
            <a:ext cx="18875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LARGEST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614476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10–20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6568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12,873 bookings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Customer &amp; Driver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7853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Service quality indicators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9436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55448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554480"/>
            <a:ext cx="64008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700784"/>
            <a:ext cx="22566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AVG CUSTOMER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53632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4.01/5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154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3154680"/>
            <a:ext cx="64008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3300984"/>
            <a:ext cx="19243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AVG DRIVER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0203" y="371761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4.00/5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75488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0476" y="4874460"/>
            <a:ext cx="12426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RATING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0788" y="5175504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0.01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7424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Very small difference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Cancellation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2539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Understanding the cancellation burden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08510"/>
              </p:ext>
            </p:extLst>
          </p:nvPr>
        </p:nvGraphicFramePr>
        <p:xfrm>
          <a:off x="978408" y="1441938"/>
          <a:ext cx="4379038" cy="3962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973798"/>
              </p:ext>
            </p:extLst>
          </p:nvPr>
        </p:nvGraphicFramePr>
        <p:xfrm>
          <a:off x="6096000" y="1325880"/>
          <a:ext cx="5242560" cy="4078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66928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0790" y="5804799"/>
            <a:ext cx="17374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TOTAL CANCELLED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613562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3,559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6568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11.9% of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5669280"/>
            <a:ext cx="301752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566928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5815584"/>
            <a:ext cx="25864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CUSTOMER CANCELLATIONS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14476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2,113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669280"/>
            <a:ext cx="3017520" cy="92354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5669280"/>
            <a:ext cx="64008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19" y="5815584"/>
            <a:ext cx="22541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DRIVER CANCELLATIONS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614476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1,446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Incomplete Ride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6818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/>
              <a:t>Why 1,800 rides were incomplete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80960" y="1554480"/>
            <a:ext cx="6400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74182" y="1688600"/>
            <a:ext cx="12843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5468" y="2029967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Network 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9983" y="2509224"/>
            <a:ext cx="9525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380 rides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1546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315468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182" y="3277320"/>
            <a:ext cx="16460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SECOND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630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Customer cancelled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4375" y="4129337"/>
            <a:ext cx="9525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367 rides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75488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475488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0393" y="4901184"/>
            <a:ext cx="1869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TOTAL INCOMPLETE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5117" y="5212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1,800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t>Location &amp; Demand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0974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1600" b="1" dirty="0"/>
              <a:t>Combining pickup, drop and distance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58368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• Highest pickup demand: Delhi with 6,092 bookings.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• Highest drop demand: Hyderabad with 6,043 bookings.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• Top pickup cities together account for 60.6% of bookings.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• Average ride distance is 13.20 km, indicating a strong mix of short and medium trips.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• 10–20 km is the largest distance category with 12,873 bookings.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5087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17478" y="1675831"/>
            <a:ext cx="12008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 dirty="0"/>
              <a:t>TOP PICKUP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630" y="1945805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6520" y="2380032"/>
            <a:ext cx="1447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6,092 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971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297180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9757" y="3072385"/>
            <a:ext cx="10668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TOP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20" y="34290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t>Hyderabad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520" y="3846236"/>
            <a:ext cx="1447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 dirty="0"/>
              <a:t>6,043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43484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4434840"/>
            <a:ext cx="64008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232" y="4517370"/>
            <a:ext cx="10880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rPr sz="1600"/>
              <a:t>AVG 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233" y="4881835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41"/>
                </a:solidFill>
              </a:defRPr>
            </a:pPr>
            <a:r>
              <a:rPr dirty="0"/>
              <a:t>13.20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422392"/>
            <a:ext cx="17602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sz="1600"/>
              <a:t>Across all bookings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8727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rPr sz="2400" dirty="0"/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178" y="827306"/>
            <a:ext cx="24647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What the data tells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670" y="13258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4544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 dirty="0"/>
              <a:t>Strong</a:t>
            </a:r>
            <a:r>
              <a:rPr sz="1600" dirty="0"/>
              <a:t> </a:t>
            </a:r>
            <a:r>
              <a:rPr sz="2000" dirty="0"/>
              <a:t>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48504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 dirty="0"/>
              <a:t>30,000 bookings in one month provide a strong demand</a:t>
            </a:r>
            <a:endParaRPr lang="en-US" sz="1600" dirty="0"/>
          </a:p>
          <a:p>
            <a:pPr>
              <a:defRPr sz="1050">
                <a:solidFill>
                  <a:srgbClr val="1F2937"/>
                </a:solidFill>
              </a:defRPr>
            </a:pPr>
            <a:r>
              <a:rPr sz="1600" dirty="0"/>
              <a:t>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6583680" y="1490472"/>
            <a:ext cx="19225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 dirty="0"/>
              <a:t>High</a:t>
            </a:r>
            <a:r>
              <a:rPr sz="1600" dirty="0"/>
              <a:t> </a:t>
            </a:r>
            <a:r>
              <a:rPr sz="2000" dirty="0"/>
              <a:t>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47088"/>
            <a:ext cx="31631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82.1% of bookings were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39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731520" y="2834639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960120" y="2999232"/>
            <a:ext cx="28352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 dirty="0"/>
              <a:t>Cancellation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55847"/>
            <a:ext cx="42565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3,559 cancellations represent 11.9% of bookings.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39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6355080" y="2834639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583680" y="2999232"/>
            <a:ext cx="22364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 dirty="0"/>
              <a:t>Peak night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55847"/>
            <a:ext cx="42440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Night is the busiest period with 11,254 bookings.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960120" y="4507992"/>
            <a:ext cx="30534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 dirty="0"/>
              <a:t>Digital payments dominate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64608"/>
            <a:ext cx="23823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14,963 bookings used UPI.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34340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ectangle 25"/>
          <p:cNvSpPr/>
          <p:nvPr/>
        </p:nvSpPr>
        <p:spPr>
          <a:xfrm>
            <a:off x="6355080" y="434340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6583680" y="4507992"/>
            <a:ext cx="24402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341"/>
                </a:solidFill>
              </a:defRPr>
            </a:pPr>
            <a:r>
              <a:rPr sz="2000"/>
              <a:t>Customer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64608"/>
            <a:ext cx="30350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Average customer rating is 4.01/5.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745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1"/>
                </a:solidFill>
              </a:defRPr>
            </a:pPr>
            <a:r>
              <a:rPr sz="2000" dirty="0"/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407"/>
            <a:ext cx="55342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sz="2000" dirty="0"/>
              <a:t>Actions for operational and customer improvement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60825" y="1298448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25296"/>
            <a:ext cx="19642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 dirty="0"/>
              <a:t>Reduce cancellations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25296"/>
            <a:ext cx="56502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Improve driver-rider matching and monitor cancellation hotspots.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02996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760825" y="2093976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4"/>
            <a:ext cx="2141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/>
              <a:t>Focus on peak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20824"/>
            <a:ext cx="56897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Increase driver availability and incentives during Night peak hours.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2549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60825" y="2889503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16352"/>
            <a:ext cx="23067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 dirty="0"/>
              <a:t>Resolve incomplete rides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55143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Target network issues, customer cancellations and driver delays.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621024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760825" y="3685032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11880"/>
            <a:ext cx="24784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/>
              <a:t>Optimize vehicle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11880"/>
            <a:ext cx="51060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Use city-level demand to balance Bike and Auto availability.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760825" y="4480560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07408"/>
            <a:ext cx="25841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/>
              <a:t>Strengthen digital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407408"/>
            <a:ext cx="64593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UPI is the dominant payment channel; maintain reliability and convenience.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212079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760825" y="5276088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202936"/>
            <a:ext cx="21673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341"/>
                </a:solidFill>
              </a:defRPr>
            </a:pPr>
            <a:r>
              <a:rPr sz="1600"/>
              <a:t>Monitor service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202936"/>
            <a:ext cx="56391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F2937"/>
                </a:solidFill>
              </a:defRPr>
            </a:pPr>
            <a:r>
              <a:rPr sz="1600"/>
              <a:t>Track customer and driver ratings by city, vehicle and time period.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8680" y="1874519"/>
            <a:ext cx="8046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30,000 bookings analyzed for July 2025.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82.1% completion rate with 24,641 completed rides.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₹3.45M completed revenue generated.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11.9% cancellation rate is the key improvement opportunity.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Night demand and city-level patterns can guide driver allocation.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• Ratings around 4/5 indicate a generally positive service experience.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BC5B2B-8FCA-490F-8DDC-06FBFE542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40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861</Words>
  <Application>Microsoft Office PowerPoint</Application>
  <PresentationFormat>Widescreen</PresentationFormat>
  <Paragraphs>242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vijayabharathi450@gmail.com</cp:lastModifiedBy>
  <cp:revision>16</cp:revision>
  <dcterms:created xsi:type="dcterms:W3CDTF">2013-01-27T09:14:16Z</dcterms:created>
  <dcterms:modified xsi:type="dcterms:W3CDTF">2026-10-07T04:20:54Z</dcterms:modified>
  <cp:category/>
</cp:coreProperties>
</file>